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8288000" cy="10287000"/>
  <p:notesSz cx="10287000" cy="18288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AE6EE70-D103-4275-AB69-7D32AEDDD6E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Presentar el proyecto: un MVP de predicción de churn construido como proyecto final del curso y como prueba de concepto de consultoría.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848E6B-1FDB-416C-9F09-D367A285670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churn es silencioso y costoso. En el mercado de ciberseguridad de Ecuador, la retención importa más a medida que aumentan los incidentes. El objetivo es la detección temprana.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807D08-A870-4AE6-AF9A-66E768D9A3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Los datos de churn son una fila por cliente: tabulares. Los árboles con gradient boosting son la mejor opción ahí. Las RNN están hechas para secuencias que no tenemos. El dataset Telco es un sustituto estructural.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8AFC6B-5AE7-425D-9FDB-6FECDCD374A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Flujo de extremo a extremo, desde los datos crudos hasta el dashboard. Bronze, Silver, Gold es el patrón medallion, muy usado en ingeniería de datos.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36EE58-D057-41A5-978F-D46582BFC9F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Gold es donde ocurre el trabajo clave. Tres columnas filtrarían la respuesta: el Churn Score de IBM, Churn Reason (solo llena para quienes se fueron) y CLTV. Dejarlas produce un modelo falsamente casi perfecto.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BAEBB6-6651-4699-ADB5-8A882F406E4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 división estratificada mantiene la tasa de churn de 26.6% idéntica en cada conjunto. El test se usa una sola vez.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3F5AFA-DE81-46B0-85AD-4BB49A873E1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XGBoost superó al baseline de regresión logística. Umbral ajustado para recall: no detectar a un cliente que se va cuesta más que una falsa alarma.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46D780-8C04-44C4-92EC-09E0464AB7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tipo de contrato domina. Los contratos de dos años reducen fuertemente el churn. La fibra, ciertos métodos de pago y la baja antigüedad elevan el riesgo.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151C55-A48C-4DCD-BB7B-B931B7CF20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Tres endpoints protegidos alimentan el dashboard. Recorrer login, scoring por cliente, distribución del portafolio y desempeño del modelo.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CE715D-E685-4437-AE53-4B6C7481F44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Todo funciona localmente de extremo a extremo. Los datos reales y el despliegue en la nube dependen intencionalmente de firmar un cliente y un acuerdo de datos.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D5DDCB-AB63-4691-BCC4-92561A8C59E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Cierre: la herramienta existe y funciona. El siguiente paso es conectarla a datos reales del cliente. Invitar preguntas.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BF251E-829D-4261-A065-29325DF89B0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video" Target="file:///home/stanmoore/Pictures/Churn Architecture.mp4" TargetMode="External"/><Relationship Id="rId2" Type="http://schemas.microsoft.com/office/2007/relationships/media" Target="file:///home/stanmoore/Pictures/Churn Architecture.mp4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1143000" y="966960"/>
            <a:ext cx="190080" cy="190080"/>
          </a:xfrm>
          <a:prstGeom prst="rect">
            <a:avLst/>
          </a:prstGeom>
          <a:solidFill>
            <a:srgbClr val="72b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1"/>
          <p:cNvSpPr/>
          <p:nvPr/>
        </p:nvSpPr>
        <p:spPr>
          <a:xfrm>
            <a:off x="1523880" y="914400"/>
            <a:ext cx="564156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pc="145" strike="noStrike">
                <a:solidFill>
                  <a:srgbClr val="72b7fa"/>
                </a:solidFill>
                <a:effectLst/>
                <a:uFillTx/>
                <a:latin typeface="Courier New"/>
                <a:ea typeface="Courier New"/>
              </a:rPr>
              <a:t>MACHINE LEARNING · PROYECTO FINAL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2"/>
          <p:cNvSpPr/>
          <p:nvPr/>
        </p:nvSpPr>
        <p:spPr>
          <a:xfrm>
            <a:off x="1143000" y="3721680"/>
            <a:ext cx="14668200" cy="11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88000"/>
              </a:lnSpc>
              <a:tabLst>
                <a:tab algn="l" pos="0"/>
              </a:tabLst>
            </a:pPr>
            <a:r>
              <a:rPr lang="en-US" sz="8400" b="1" u="none" spc="-167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Churn Risk Prediction MVP</a:t>
            </a:r>
            <a:endParaRPr lang="en-US" sz="8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3"/>
          <p:cNvSpPr/>
          <p:nvPr/>
        </p:nvSpPr>
        <p:spPr>
          <a:xfrm>
            <a:off x="1143000" y="5152680"/>
            <a:ext cx="12753720" cy="11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3300" b="0" u="none" strike="noStrike">
                <a:solidFill>
                  <a:srgbClr val="c7ceda"/>
                </a:solidFill>
                <a:effectLst/>
                <a:uFillTx/>
                <a:latin typeface="Arial"/>
                <a:ea typeface="Arial"/>
              </a:rPr>
              <a:t>Solución de IA/ML para la retención de clientes en servicios de ciberseguridad</a:t>
            </a:r>
            <a:endParaRPr lang="en-US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4"/>
          <p:cNvSpPr/>
          <p:nvPr/>
        </p:nvSpPr>
        <p:spPr>
          <a:xfrm>
            <a:off x="1143000" y="8753400"/>
            <a:ext cx="16001640" cy="9000"/>
          </a:xfrm>
          <a:prstGeom prst="rect">
            <a:avLst/>
          </a:prstGeom>
          <a:solidFill>
            <a:srgbClr val="313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5"/>
          <p:cNvSpPr/>
          <p:nvPr/>
        </p:nvSpPr>
        <p:spPr>
          <a:xfrm>
            <a:off x="1143000" y="9103320"/>
            <a:ext cx="16480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Stan Mora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6"/>
          <p:cNvSpPr/>
          <p:nvPr/>
        </p:nvSpPr>
        <p:spPr>
          <a:xfrm>
            <a:off x="16596360" y="9228960"/>
            <a:ext cx="62460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a6aeba"/>
                </a:solidFill>
                <a:effectLst/>
                <a:uFillTx/>
                <a:latin typeface="Courier New"/>
                <a:ea typeface="Courier New"/>
              </a:rPr>
              <a:t>2026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1143000" y="914400"/>
            <a:ext cx="1760184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266ed3"/>
                </a:solidFill>
                <a:effectLst/>
                <a:uFillTx/>
                <a:latin typeface="Courier New"/>
                <a:ea typeface="Courier New"/>
              </a:rPr>
              <a:t>02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"/>
          <p:cNvSpPr/>
          <p:nvPr/>
        </p:nvSpPr>
        <p:spPr>
          <a:xfrm>
            <a:off x="1143000" y="1362600"/>
            <a:ext cx="17601840" cy="73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800" b="1" u="none" spc="-48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El Problema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2"/>
          <p:cNvSpPr/>
          <p:nvPr/>
        </p:nvSpPr>
        <p:spPr>
          <a:xfrm>
            <a:off x="1143000" y="3741840"/>
            <a:ext cx="7782840" cy="16560"/>
          </a:xfrm>
          <a:prstGeom prst="rect">
            <a:avLst/>
          </a:prstGeom>
          <a:solidFill>
            <a:srgbClr val="151a2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8080" bIns="-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3"/>
          <p:cNvSpPr/>
          <p:nvPr/>
        </p:nvSpPr>
        <p:spPr>
          <a:xfrm>
            <a:off x="1143000" y="4025520"/>
            <a:ext cx="856116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1" u="none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Pérdidas silenciosas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4"/>
          <p:cNvSpPr/>
          <p:nvPr/>
        </p:nvSpPr>
        <p:spPr>
          <a:xfrm>
            <a:off x="1143000" y="4510800"/>
            <a:ext cx="8561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575f68"/>
                </a:solidFill>
                <a:effectLst/>
                <a:uFillTx/>
                <a:latin typeface="Arial"/>
                <a:ea typeface="Arial"/>
              </a:rPr>
              <a:t>Perder clientes en silencio cuesta más que prevenirlo.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5"/>
          <p:cNvSpPr/>
          <p:nvPr/>
        </p:nvSpPr>
        <p:spPr>
          <a:xfrm>
            <a:off x="1143000" y="5341320"/>
            <a:ext cx="7782840" cy="16560"/>
          </a:xfrm>
          <a:prstGeom prst="rect">
            <a:avLst/>
          </a:prstGeom>
          <a:solidFill>
            <a:srgbClr val="151a2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8080" bIns="-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6"/>
          <p:cNvSpPr/>
          <p:nvPr/>
        </p:nvSpPr>
        <p:spPr>
          <a:xfrm>
            <a:off x="1143000" y="5625000"/>
            <a:ext cx="856116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1" u="none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La retención es crítica en ciberseguridad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7"/>
          <p:cNvSpPr/>
          <p:nvPr/>
        </p:nvSpPr>
        <p:spPr>
          <a:xfrm>
            <a:off x="1143000" y="6109920"/>
            <a:ext cx="8016480" cy="78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575f68"/>
                </a:solidFill>
                <a:effectLst/>
                <a:uFillTx/>
                <a:latin typeface="Arial"/>
                <a:ea typeface="Arial"/>
              </a:rPr>
              <a:t>La tasa de incidentes en Ecuador está en aumento, lo que eleva el valor de cada relación con un cliente.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8"/>
          <p:cNvSpPr/>
          <p:nvPr/>
        </p:nvSpPr>
        <p:spPr>
          <a:xfrm>
            <a:off x="1143000" y="7314120"/>
            <a:ext cx="7782840" cy="16560"/>
          </a:xfrm>
          <a:prstGeom prst="rect">
            <a:avLst/>
          </a:prstGeom>
          <a:solidFill>
            <a:srgbClr val="266e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8080" bIns="-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9"/>
          <p:cNvSpPr/>
          <p:nvPr/>
        </p:nvSpPr>
        <p:spPr>
          <a:xfrm>
            <a:off x="1143000" y="7597800"/>
            <a:ext cx="856116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1" u="none" strike="noStrike">
                <a:solidFill>
                  <a:srgbClr val="266ed3"/>
                </a:solidFill>
                <a:effectLst/>
                <a:uFillTx/>
                <a:latin typeface="Arial"/>
                <a:ea typeface="Arial"/>
              </a:rPr>
              <a:t>Objetivo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0"/>
          <p:cNvSpPr/>
          <p:nvPr/>
        </p:nvSpPr>
        <p:spPr>
          <a:xfrm>
            <a:off x="1143000" y="8082720"/>
            <a:ext cx="8561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Predecir qué clientes están en riesgo antes de que cancelen.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1"/>
          <p:cNvSpPr/>
          <p:nvPr/>
        </p:nvSpPr>
        <p:spPr>
          <a:xfrm>
            <a:off x="10069200" y="2673000"/>
            <a:ext cx="7075440" cy="6851520"/>
          </a:xfrm>
          <a:prstGeom prst="rect">
            <a:avLst/>
          </a:prstGeom>
          <a:solidFill>
            <a:srgbClr val="dbe9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2"/>
          <p:cNvSpPr/>
          <p:nvPr/>
        </p:nvSpPr>
        <p:spPr>
          <a:xfrm>
            <a:off x="10755000" y="3634560"/>
            <a:ext cx="6274080" cy="278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78000"/>
              </a:lnSpc>
              <a:tabLst>
                <a:tab algn="l" pos="0"/>
              </a:tabLst>
            </a:pPr>
            <a:r>
              <a:rPr lang="en-US" sz="24000" b="1" u="none" spc="-961" strike="noStrike">
                <a:solidFill>
                  <a:srgbClr val="266ed3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2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3"/>
          <p:cNvSpPr/>
          <p:nvPr/>
        </p:nvSpPr>
        <p:spPr>
          <a:xfrm>
            <a:off x="10755000" y="6568200"/>
            <a:ext cx="5874840" cy="154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lang="en-US" sz="3300" b="0" u="none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casos de ransomware reportados en Ecuador en 2025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4"/>
          <p:cNvSpPr/>
          <p:nvPr/>
        </p:nvSpPr>
        <p:spPr>
          <a:xfrm>
            <a:off x="10755000" y="8267400"/>
            <a:ext cx="627408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575f68"/>
                </a:solidFill>
                <a:effectLst/>
                <a:uFillTx/>
                <a:latin typeface="Courier New"/>
                <a:ea typeface="Courier New"/>
              </a:rPr>
              <a:t>Fuente: EcuCERT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27"/>
          <p:cNvSpPr/>
          <p:nvPr/>
        </p:nvSpPr>
        <p:spPr>
          <a:xfrm>
            <a:off x="1143000" y="914400"/>
            <a:ext cx="1760184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266ed3"/>
                </a:solidFill>
                <a:effectLst/>
                <a:uFillTx/>
                <a:latin typeface="Courier New"/>
                <a:ea typeface="Courier New"/>
              </a:rPr>
              <a:t>03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31"/>
          <p:cNvSpPr/>
          <p:nvPr/>
        </p:nvSpPr>
        <p:spPr>
          <a:xfrm>
            <a:off x="1143000" y="1362600"/>
            <a:ext cx="17601840" cy="73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800" b="1" u="none" spc="-48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Por Qué Este Enfoque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32"/>
          <p:cNvSpPr/>
          <p:nvPr/>
        </p:nvSpPr>
        <p:spPr>
          <a:xfrm>
            <a:off x="1143000" y="2673000"/>
            <a:ext cx="838152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575f68"/>
                </a:solidFill>
                <a:effectLst/>
                <a:uFillTx/>
                <a:latin typeface="Courier New"/>
                <a:ea typeface="Courier New"/>
              </a:rPr>
              <a:t>ELECCIÓN DEL MODELO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33"/>
          <p:cNvSpPr/>
          <p:nvPr/>
        </p:nvSpPr>
        <p:spPr>
          <a:xfrm>
            <a:off x="1143000" y="3362760"/>
            <a:ext cx="7848360" cy="10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lang="en-US" sz="3300" b="1" u="none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El churn es un problema tabular: una fila por cliente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"/>
          <p:cNvSpPr/>
          <p:nvPr/>
        </p:nvSpPr>
        <p:spPr>
          <a:xfrm>
            <a:off x="1143000" y="4825800"/>
            <a:ext cx="3695400" cy="2942280"/>
          </a:xfrm>
          <a:prstGeom prst="rect">
            <a:avLst/>
          </a:prstGeom>
          <a:solidFill>
            <a:srgbClr val="266e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34"/>
          <p:cNvSpPr/>
          <p:nvPr/>
        </p:nvSpPr>
        <p:spPr>
          <a:xfrm>
            <a:off x="1523880" y="5207040"/>
            <a:ext cx="322668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XGBoost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5"/>
          <p:cNvSpPr/>
          <p:nvPr/>
        </p:nvSpPr>
        <p:spPr>
          <a:xfrm>
            <a:off x="1523880" y="5730120"/>
            <a:ext cx="3021480" cy="169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26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Fuerte con variables estructuradas, rápido de entrenar, interpretable mediante importancia de variables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9"/>
          <p:cNvSpPr/>
          <p:nvPr/>
        </p:nvSpPr>
        <p:spPr>
          <a:xfrm>
            <a:off x="5067360" y="4825800"/>
            <a:ext cx="3695400" cy="2942280"/>
          </a:xfrm>
          <a:prstGeom prst="rect">
            <a:avLst/>
          </a:prstGeom>
          <a:noFill/>
          <a:ln w="16920">
            <a:solidFill>
              <a:srgbClr val="d2d8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36"/>
          <p:cNvSpPr/>
          <p:nvPr/>
        </p:nvSpPr>
        <p:spPr>
          <a:xfrm>
            <a:off x="5465160" y="5223960"/>
            <a:ext cx="318924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1" u="none" strike="noStrike">
                <a:solidFill>
                  <a:srgbClr val="575f68"/>
                </a:solidFill>
                <a:effectLst/>
                <a:uFillTx/>
                <a:latin typeface="Arial"/>
                <a:ea typeface="Arial"/>
              </a:rPr>
              <a:t>RNN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37"/>
          <p:cNvSpPr/>
          <p:nvPr/>
        </p:nvSpPr>
        <p:spPr>
          <a:xfrm>
            <a:off x="5465160" y="5747040"/>
            <a:ext cx="2986200" cy="13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26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575f68"/>
                </a:solidFill>
                <a:effectLst/>
                <a:uFillTx/>
                <a:latin typeface="Arial"/>
                <a:ea typeface="Arial"/>
              </a:rPr>
              <a:t>Diseñada para secuencias ordenadas; aquí no hay señal temporal que aprovechar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7"/>
          <p:cNvSpPr/>
          <p:nvPr/>
        </p:nvSpPr>
        <p:spPr>
          <a:xfrm>
            <a:off x="9524880" y="2673000"/>
            <a:ext cx="9000" cy="6851520"/>
          </a:xfrm>
          <a:prstGeom prst="rect">
            <a:avLst/>
          </a:prstGeom>
          <a:solidFill>
            <a:srgbClr val="d2d8d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38"/>
          <p:cNvSpPr/>
          <p:nvPr/>
        </p:nvSpPr>
        <p:spPr>
          <a:xfrm>
            <a:off x="10293840" y="2673000"/>
            <a:ext cx="753588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575f68"/>
                </a:solidFill>
                <a:effectLst/>
                <a:uFillTx/>
                <a:latin typeface="Courier New"/>
                <a:ea typeface="Courier New"/>
              </a:rPr>
              <a:t>ESTRATEGIA DE DATOS PROXY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9"/>
          <p:cNvSpPr/>
          <p:nvPr/>
        </p:nvSpPr>
        <p:spPr>
          <a:xfrm>
            <a:off x="10293840" y="3362760"/>
            <a:ext cx="7056360" cy="10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lang="en-US" sz="3300" b="1" u="none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Aún no hay cliente real, así que un dataset público lo sustituye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40"/>
          <p:cNvSpPr/>
          <p:nvPr/>
        </p:nvSpPr>
        <p:spPr>
          <a:xfrm>
            <a:off x="10293840" y="4825800"/>
            <a:ext cx="3450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86000"/>
              </a:lnSpc>
              <a:tabLst>
                <a:tab algn="l" pos="0"/>
              </a:tabLst>
            </a:pPr>
            <a:r>
              <a:rPr lang="en-US" sz="10500" b="1" u="none" spc="-315" strike="noStrike">
                <a:solidFill>
                  <a:srgbClr val="266ed3"/>
                </a:solidFill>
                <a:effectLst/>
                <a:uFillTx/>
                <a:latin typeface="Arial"/>
                <a:ea typeface="Arial"/>
              </a:rPr>
              <a:t>7,043</a:t>
            </a:r>
            <a:endParaRPr lang="en-US" sz="10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41"/>
          <p:cNvSpPr/>
          <p:nvPr/>
        </p:nvSpPr>
        <p:spPr>
          <a:xfrm>
            <a:off x="13659480" y="5622120"/>
            <a:ext cx="12171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575f68"/>
                </a:solidFill>
                <a:effectLst/>
                <a:uFillTx/>
                <a:latin typeface="Arial"/>
                <a:ea typeface="Arial"/>
              </a:rPr>
              <a:t>clientes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42"/>
          <p:cNvSpPr/>
          <p:nvPr/>
        </p:nvSpPr>
        <p:spPr>
          <a:xfrm>
            <a:off x="10293840" y="6502320"/>
            <a:ext cx="7056360" cy="11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24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IBM Telco Customer Churn (Kaggle), usado como sustituto estructural hasta contar con datos reales del cliente.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7285680" y="5009040"/>
            <a:ext cx="382500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fld id="{82DC4103-745D-4D47-AA06-0AACB2CD8669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44000" y="84240"/>
            <a:ext cx="18074520" cy="10166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/>
          <p:nvPr/>
        </p:nvSpPr>
        <p:spPr>
          <a:xfrm>
            <a:off x="1143000" y="914400"/>
            <a:ext cx="1760184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72b7fa"/>
                </a:solidFill>
                <a:effectLst/>
                <a:uFillTx/>
                <a:latin typeface="Courier New"/>
                <a:ea typeface="Courier New"/>
              </a:rPr>
              <a:t>04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1143000" y="1362600"/>
            <a:ext cx="17601840" cy="73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800" b="1" u="none" spc="-48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Visión General de la Arquitectura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"/>
          <p:cNvSpPr/>
          <p:nvPr/>
        </p:nvSpPr>
        <p:spPr>
          <a:xfrm>
            <a:off x="1143000" y="3072960"/>
            <a:ext cx="412020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9da5b1"/>
                </a:solidFill>
                <a:effectLst/>
                <a:uFillTx/>
                <a:latin typeface="Courier New"/>
                <a:ea typeface="Courier New"/>
              </a:rPr>
              <a:t>FUENTE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3"/>
          <p:cNvSpPr/>
          <p:nvPr/>
        </p:nvSpPr>
        <p:spPr>
          <a:xfrm>
            <a:off x="5448240" y="3483000"/>
            <a:ext cx="11696400" cy="16560"/>
          </a:xfrm>
          <a:prstGeom prst="rect">
            <a:avLst/>
          </a:prstGeom>
          <a:solidFill>
            <a:srgbClr val="72b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8080" bIns="-28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4"/>
          <p:cNvSpPr/>
          <p:nvPr/>
        </p:nvSpPr>
        <p:spPr>
          <a:xfrm>
            <a:off x="5448240" y="3072960"/>
            <a:ext cx="1204740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72b7fa"/>
                </a:solidFill>
                <a:effectLst/>
                <a:uFillTx/>
                <a:latin typeface="Courier New"/>
                <a:ea typeface="Courier New"/>
              </a:rPr>
              <a:t>CAPAS DE DATOS MEDALLION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5"/>
          <p:cNvSpPr/>
          <p:nvPr/>
        </p:nvSpPr>
        <p:spPr>
          <a:xfrm>
            <a:off x="1143000" y="4033440"/>
            <a:ext cx="3771360" cy="1876680"/>
          </a:xfrm>
          <a:prstGeom prst="rect">
            <a:avLst/>
          </a:prstGeom>
          <a:solidFill>
            <a:srgbClr val="1922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6"/>
          <p:cNvSpPr/>
          <p:nvPr/>
        </p:nvSpPr>
        <p:spPr>
          <a:xfrm>
            <a:off x="1485720" y="4376520"/>
            <a:ext cx="339444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9da5b1"/>
                </a:solidFill>
                <a:effectLst/>
                <a:uFillTx/>
                <a:latin typeface="Courier New"/>
                <a:ea typeface="Courier New"/>
              </a:rPr>
              <a:t>01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7"/>
          <p:cNvSpPr/>
          <p:nvPr/>
        </p:nvSpPr>
        <p:spPr>
          <a:xfrm>
            <a:off x="1485720" y="4786560"/>
            <a:ext cx="339444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Datos de Kaggle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8"/>
          <p:cNvSpPr/>
          <p:nvPr/>
        </p:nvSpPr>
        <p:spPr>
          <a:xfrm>
            <a:off x="5219640" y="4033440"/>
            <a:ext cx="3771720" cy="1876680"/>
          </a:xfrm>
          <a:prstGeom prst="rect">
            <a:avLst/>
          </a:prstGeom>
          <a:solidFill>
            <a:srgbClr val="1922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9"/>
          <p:cNvSpPr/>
          <p:nvPr/>
        </p:nvSpPr>
        <p:spPr>
          <a:xfrm>
            <a:off x="5562720" y="4376520"/>
            <a:ext cx="339444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9da5b1"/>
                </a:solidFill>
                <a:effectLst/>
                <a:uFillTx/>
                <a:latin typeface="Courier New"/>
                <a:ea typeface="Courier New"/>
              </a:rPr>
              <a:t>02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0"/>
          <p:cNvSpPr/>
          <p:nvPr/>
        </p:nvSpPr>
        <p:spPr>
          <a:xfrm>
            <a:off x="5562720" y="4786560"/>
            <a:ext cx="339444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Bronze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1"/>
          <p:cNvSpPr/>
          <p:nvPr/>
        </p:nvSpPr>
        <p:spPr>
          <a:xfrm>
            <a:off x="5562720" y="5271840"/>
            <a:ext cx="339444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b7beca"/>
                </a:solidFill>
                <a:effectLst/>
                <a:uFillTx/>
                <a:latin typeface="Arial"/>
                <a:ea typeface="Arial"/>
              </a:rPr>
              <a:t>crudos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2"/>
          <p:cNvSpPr/>
          <p:nvPr/>
        </p:nvSpPr>
        <p:spPr>
          <a:xfrm>
            <a:off x="9296280" y="4033440"/>
            <a:ext cx="3771360" cy="1876680"/>
          </a:xfrm>
          <a:prstGeom prst="rect">
            <a:avLst/>
          </a:prstGeom>
          <a:solidFill>
            <a:srgbClr val="1922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3"/>
          <p:cNvSpPr/>
          <p:nvPr/>
        </p:nvSpPr>
        <p:spPr>
          <a:xfrm>
            <a:off x="9639360" y="4376520"/>
            <a:ext cx="339444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9da5b1"/>
                </a:solidFill>
                <a:effectLst/>
                <a:uFillTx/>
                <a:latin typeface="Courier New"/>
                <a:ea typeface="Courier New"/>
              </a:rPr>
              <a:t>03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4"/>
          <p:cNvSpPr/>
          <p:nvPr/>
        </p:nvSpPr>
        <p:spPr>
          <a:xfrm>
            <a:off x="9639360" y="4786560"/>
            <a:ext cx="339444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Silver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5"/>
          <p:cNvSpPr/>
          <p:nvPr/>
        </p:nvSpPr>
        <p:spPr>
          <a:xfrm>
            <a:off x="9639360" y="5271840"/>
            <a:ext cx="339444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b7beca"/>
                </a:solidFill>
                <a:effectLst/>
                <a:uFillTx/>
                <a:latin typeface="Arial"/>
                <a:ea typeface="Arial"/>
              </a:rPr>
              <a:t>limpios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6"/>
          <p:cNvSpPr/>
          <p:nvPr/>
        </p:nvSpPr>
        <p:spPr>
          <a:xfrm>
            <a:off x="13372920" y="4033440"/>
            <a:ext cx="3771720" cy="1876680"/>
          </a:xfrm>
          <a:prstGeom prst="rect">
            <a:avLst/>
          </a:prstGeom>
          <a:solidFill>
            <a:srgbClr val="1922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7"/>
          <p:cNvSpPr/>
          <p:nvPr/>
        </p:nvSpPr>
        <p:spPr>
          <a:xfrm>
            <a:off x="13716000" y="4376520"/>
            <a:ext cx="339444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9da5b1"/>
                </a:solidFill>
                <a:effectLst/>
                <a:uFillTx/>
                <a:latin typeface="Courier New"/>
                <a:ea typeface="Courier New"/>
              </a:rPr>
              <a:t>04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8"/>
          <p:cNvSpPr/>
          <p:nvPr/>
        </p:nvSpPr>
        <p:spPr>
          <a:xfrm>
            <a:off x="13716000" y="4786560"/>
            <a:ext cx="339444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Gold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9"/>
          <p:cNvSpPr/>
          <p:nvPr/>
        </p:nvSpPr>
        <p:spPr>
          <a:xfrm>
            <a:off x="13716000" y="5271840"/>
            <a:ext cx="339444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b7beca"/>
                </a:solidFill>
                <a:effectLst/>
                <a:uFillTx/>
                <a:latin typeface="Arial"/>
                <a:ea typeface="Arial"/>
              </a:rPr>
              <a:t>codificados, divididos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20"/>
          <p:cNvSpPr/>
          <p:nvPr/>
        </p:nvSpPr>
        <p:spPr>
          <a:xfrm>
            <a:off x="1143000" y="6444000"/>
            <a:ext cx="5130360" cy="1876680"/>
          </a:xfrm>
          <a:prstGeom prst="rect">
            <a:avLst/>
          </a:prstGeom>
          <a:solidFill>
            <a:srgbClr val="266e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1"/>
          <p:cNvSpPr/>
          <p:nvPr/>
        </p:nvSpPr>
        <p:spPr>
          <a:xfrm>
            <a:off x="1485720" y="6786720"/>
            <a:ext cx="488916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cfdff8"/>
                </a:solidFill>
                <a:effectLst/>
                <a:uFillTx/>
                <a:latin typeface="Courier New"/>
                <a:ea typeface="Courier New"/>
              </a:rPr>
              <a:t>05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2"/>
          <p:cNvSpPr/>
          <p:nvPr/>
        </p:nvSpPr>
        <p:spPr>
          <a:xfrm>
            <a:off x="1485720" y="7197120"/>
            <a:ext cx="488916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Modelo XGBoost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23"/>
          <p:cNvSpPr/>
          <p:nvPr/>
        </p:nvSpPr>
        <p:spPr>
          <a:xfrm>
            <a:off x="6578640" y="6444000"/>
            <a:ext cx="5130360" cy="1876680"/>
          </a:xfrm>
          <a:prstGeom prst="rect">
            <a:avLst/>
          </a:prstGeom>
          <a:solidFill>
            <a:srgbClr val="266e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4"/>
          <p:cNvSpPr/>
          <p:nvPr/>
        </p:nvSpPr>
        <p:spPr>
          <a:xfrm>
            <a:off x="6921360" y="6786720"/>
            <a:ext cx="488916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cfdff8"/>
                </a:solidFill>
                <a:effectLst/>
                <a:uFillTx/>
                <a:latin typeface="Courier New"/>
                <a:ea typeface="Courier New"/>
              </a:rPr>
              <a:t>06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5"/>
          <p:cNvSpPr/>
          <p:nvPr/>
        </p:nvSpPr>
        <p:spPr>
          <a:xfrm>
            <a:off x="6921360" y="7197120"/>
            <a:ext cx="488916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Backend FastAPI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6"/>
          <p:cNvSpPr/>
          <p:nvPr/>
        </p:nvSpPr>
        <p:spPr>
          <a:xfrm>
            <a:off x="6921360" y="7682040"/>
            <a:ext cx="488916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d9e7f8"/>
                </a:solidFill>
                <a:effectLst/>
                <a:uFillTx/>
                <a:latin typeface="Arial"/>
                <a:ea typeface="Arial"/>
              </a:rPr>
              <a:t>autenticación JWT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27"/>
          <p:cNvSpPr/>
          <p:nvPr/>
        </p:nvSpPr>
        <p:spPr>
          <a:xfrm>
            <a:off x="12014280" y="6444000"/>
            <a:ext cx="5130360" cy="1876680"/>
          </a:xfrm>
          <a:prstGeom prst="rect">
            <a:avLst/>
          </a:prstGeom>
          <a:solidFill>
            <a:srgbClr val="266e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8"/>
          <p:cNvSpPr/>
          <p:nvPr/>
        </p:nvSpPr>
        <p:spPr>
          <a:xfrm>
            <a:off x="12357000" y="6786720"/>
            <a:ext cx="488916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cfdff8"/>
                </a:solidFill>
                <a:effectLst/>
                <a:uFillTx/>
                <a:latin typeface="Courier New"/>
                <a:ea typeface="Courier New"/>
              </a:rPr>
              <a:t>07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9"/>
          <p:cNvSpPr/>
          <p:nvPr/>
        </p:nvSpPr>
        <p:spPr>
          <a:xfrm>
            <a:off x="12357000" y="7197120"/>
            <a:ext cx="488916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Dashboard React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30"/>
          <p:cNvSpPr/>
          <p:nvPr/>
        </p:nvSpPr>
        <p:spPr>
          <a:xfrm>
            <a:off x="1143000" y="9177840"/>
            <a:ext cx="1760184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bcc5d1"/>
                </a:solidFill>
                <a:effectLst/>
                <a:uFillTx/>
                <a:latin typeface="Arial"/>
                <a:ea typeface="Arial"/>
              </a:rPr>
              <a:t>Construido sobre una arquitectura de datos “medallion”, un patrón estándar de la industria.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0"/>
          <p:cNvSpPr/>
          <p:nvPr/>
        </p:nvSpPr>
        <p:spPr>
          <a:xfrm>
            <a:off x="1143000" y="914400"/>
            <a:ext cx="1760184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266ed3"/>
                </a:solidFill>
                <a:effectLst/>
                <a:uFillTx/>
                <a:latin typeface="Courier New"/>
                <a:ea typeface="Courier New"/>
              </a:rPr>
              <a:t>05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"/>
          <p:cNvSpPr/>
          <p:nvPr/>
        </p:nvSpPr>
        <p:spPr>
          <a:xfrm>
            <a:off x="1143000" y="1362600"/>
            <a:ext cx="17601840" cy="73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800" b="1" u="none" spc="-48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Detalle del Pipeline de Datos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2"/>
          <p:cNvSpPr/>
          <p:nvPr/>
        </p:nvSpPr>
        <p:spPr>
          <a:xfrm>
            <a:off x="1143000" y="2673000"/>
            <a:ext cx="3847680" cy="54000"/>
          </a:xfrm>
          <a:prstGeom prst="rect">
            <a:avLst/>
          </a:prstGeom>
          <a:solidFill>
            <a:srgbClr val="ae78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360" bIns="93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3"/>
          <p:cNvSpPr/>
          <p:nvPr/>
        </p:nvSpPr>
        <p:spPr>
          <a:xfrm>
            <a:off x="1143000" y="3032280"/>
            <a:ext cx="42325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300" b="1" u="none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Bronze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4"/>
          <p:cNvSpPr/>
          <p:nvPr/>
        </p:nvSpPr>
        <p:spPr>
          <a:xfrm>
            <a:off x="1143000" y="3705840"/>
            <a:ext cx="423252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24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575f68"/>
                </a:solidFill>
                <a:effectLst/>
                <a:uFillTx/>
                <a:latin typeface="Arial"/>
                <a:ea typeface="Arial"/>
              </a:rPr>
              <a:t>Ingesta cruda vía API de Kaggle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5"/>
          <p:cNvSpPr/>
          <p:nvPr/>
        </p:nvSpPr>
        <p:spPr>
          <a:xfrm>
            <a:off x="5295960" y="2673000"/>
            <a:ext cx="3847680" cy="54000"/>
          </a:xfrm>
          <a:prstGeom prst="rect">
            <a:avLst/>
          </a:prstGeom>
          <a:solidFill>
            <a:srgbClr val="9b9f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360" bIns="93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6"/>
          <p:cNvSpPr/>
          <p:nvPr/>
        </p:nvSpPr>
        <p:spPr>
          <a:xfrm>
            <a:off x="5295960" y="3032280"/>
            <a:ext cx="42325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300" b="1" u="none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Silver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7"/>
          <p:cNvSpPr/>
          <p:nvPr/>
        </p:nvSpPr>
        <p:spPr>
          <a:xfrm>
            <a:off x="5295960" y="3705840"/>
            <a:ext cx="3963240" cy="81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24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575f68"/>
                </a:solidFill>
                <a:effectLst/>
                <a:uFillTx/>
                <a:latin typeface="Arial"/>
                <a:ea typeface="Arial"/>
              </a:rPr>
              <a:t>Limpieza: corrección de tipos, deduplicación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8"/>
          <p:cNvSpPr/>
          <p:nvPr/>
        </p:nvSpPr>
        <p:spPr>
          <a:xfrm>
            <a:off x="9448920" y="2673000"/>
            <a:ext cx="7695720" cy="54000"/>
          </a:xfrm>
          <a:prstGeom prst="rect">
            <a:avLst/>
          </a:prstGeom>
          <a:solidFill>
            <a:srgbClr val="d3a6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360" bIns="9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9"/>
          <p:cNvSpPr/>
          <p:nvPr/>
        </p:nvSpPr>
        <p:spPr>
          <a:xfrm>
            <a:off x="9448920" y="3032280"/>
            <a:ext cx="10303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300" b="1" u="none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Gold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0"/>
          <p:cNvSpPr/>
          <p:nvPr/>
        </p:nvSpPr>
        <p:spPr>
          <a:xfrm>
            <a:off x="10631520" y="3144600"/>
            <a:ext cx="571824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575f68"/>
                </a:solidFill>
                <a:effectLst/>
                <a:uFillTx/>
                <a:latin typeface="Arial"/>
                <a:ea typeface="Arial"/>
              </a:rPr>
              <a:t>Eliminación de fuga de datos (data leakage)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1"/>
          <p:cNvSpPr/>
          <p:nvPr/>
        </p:nvSpPr>
        <p:spPr>
          <a:xfrm>
            <a:off x="9448920" y="3782160"/>
            <a:ext cx="7695720" cy="2439000"/>
          </a:xfrm>
          <a:prstGeom prst="rect">
            <a:avLst/>
          </a:prstGeom>
          <a:solidFill>
            <a:srgbClr val="ffffff"/>
          </a:solidFill>
          <a:ln w="6840">
            <a:solidFill>
              <a:srgbClr val="d2d8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2"/>
          <p:cNvSpPr/>
          <p:nvPr/>
        </p:nvSpPr>
        <p:spPr>
          <a:xfrm>
            <a:off x="9455760" y="4592880"/>
            <a:ext cx="7682400" cy="9000"/>
          </a:xfrm>
          <a:prstGeom prst="rect">
            <a:avLst/>
          </a:prstGeom>
          <a:solidFill>
            <a:srgbClr val="d2d8d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3"/>
          <p:cNvSpPr/>
          <p:nvPr/>
        </p:nvSpPr>
        <p:spPr>
          <a:xfrm>
            <a:off x="9760320" y="4017240"/>
            <a:ext cx="272376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100" b="0" u="none" strike="sngStrike">
                <a:solidFill>
                  <a:srgbClr val="bb2b2f"/>
                </a:solidFill>
                <a:effectLst/>
                <a:uFillTx/>
                <a:latin typeface="Courier New"/>
                <a:ea typeface="Courier New"/>
              </a:rPr>
              <a:t>Churn Score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4"/>
          <p:cNvSpPr/>
          <p:nvPr/>
        </p:nvSpPr>
        <p:spPr>
          <a:xfrm>
            <a:off x="12465360" y="4058280"/>
            <a:ext cx="480456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575f68"/>
                </a:solidFill>
                <a:effectLst/>
                <a:uFillTx/>
                <a:latin typeface="Arial"/>
                <a:ea typeface="Arial"/>
              </a:rPr>
              <a:t>Predicción preconstruida de IBM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5"/>
          <p:cNvSpPr/>
          <p:nvPr/>
        </p:nvSpPr>
        <p:spPr>
          <a:xfrm>
            <a:off x="9455760" y="5403960"/>
            <a:ext cx="7682400" cy="9000"/>
          </a:xfrm>
          <a:prstGeom prst="rect">
            <a:avLst/>
          </a:prstGeom>
          <a:solidFill>
            <a:srgbClr val="d2d8d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6"/>
          <p:cNvSpPr/>
          <p:nvPr/>
        </p:nvSpPr>
        <p:spPr>
          <a:xfrm>
            <a:off x="9760320" y="4828320"/>
            <a:ext cx="272376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100" b="0" u="none" strike="sngStrike">
                <a:solidFill>
                  <a:srgbClr val="bb2b2f"/>
                </a:solidFill>
                <a:effectLst/>
                <a:uFillTx/>
                <a:latin typeface="Courier New"/>
                <a:ea typeface="Courier New"/>
              </a:rPr>
              <a:t>Churn Reason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7"/>
          <p:cNvSpPr/>
          <p:nvPr/>
        </p:nvSpPr>
        <p:spPr>
          <a:xfrm>
            <a:off x="12465360" y="4869000"/>
            <a:ext cx="480456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575f68"/>
                </a:solidFill>
                <a:effectLst/>
                <a:uFillTx/>
                <a:latin typeface="Arial"/>
                <a:ea typeface="Arial"/>
              </a:rPr>
              <a:t>Solo llena para clientes que se fueron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8"/>
          <p:cNvSpPr/>
          <p:nvPr/>
        </p:nvSpPr>
        <p:spPr>
          <a:xfrm>
            <a:off x="9760320" y="5639040"/>
            <a:ext cx="272376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100" b="0" u="none" strike="sngStrike">
                <a:solidFill>
                  <a:srgbClr val="bb2b2f"/>
                </a:solidFill>
                <a:effectLst/>
                <a:uFillTx/>
                <a:latin typeface="Courier New"/>
                <a:ea typeface="Courier New"/>
              </a:rPr>
              <a:t>CLTV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9"/>
          <p:cNvSpPr/>
          <p:nvPr/>
        </p:nvSpPr>
        <p:spPr>
          <a:xfrm>
            <a:off x="12465360" y="5680080"/>
            <a:ext cx="480456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575f68"/>
                </a:solidFill>
                <a:effectLst/>
                <a:uFillTx/>
                <a:latin typeface="Arial"/>
                <a:ea typeface="Arial"/>
              </a:rPr>
              <a:t>Valor de vida del cliente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0"/>
          <p:cNvSpPr/>
          <p:nvPr/>
        </p:nvSpPr>
        <p:spPr>
          <a:xfrm>
            <a:off x="9448920" y="6488280"/>
            <a:ext cx="7926840" cy="81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24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Sin eliminarlas, el modelo “haría trampa” y parecería artificialmente perfecto.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/>
          <p:nvPr/>
        </p:nvSpPr>
        <p:spPr>
          <a:xfrm>
            <a:off x="1143000" y="914400"/>
            <a:ext cx="1760184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266ed3"/>
                </a:solidFill>
                <a:effectLst/>
                <a:uFillTx/>
                <a:latin typeface="Courier New"/>
                <a:ea typeface="Courier New"/>
              </a:rPr>
              <a:t>06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1143000" y="1362600"/>
            <a:ext cx="17601840" cy="73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800" b="1" u="none" spc="-48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Metodología Entrenamiento / Validación / Prueba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"/>
          <p:cNvSpPr/>
          <p:nvPr/>
        </p:nvSpPr>
        <p:spPr>
          <a:xfrm>
            <a:off x="1143000" y="3717720"/>
            <a:ext cx="70711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300" b="1" u="none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División estratificada 70 / 15 / 15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"/>
          <p:cNvSpPr/>
          <p:nvPr/>
        </p:nvSpPr>
        <p:spPr>
          <a:xfrm>
            <a:off x="7838280" y="3830040"/>
            <a:ext cx="752004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575f68"/>
                </a:solidFill>
                <a:effectLst/>
                <a:uFillTx/>
                <a:latin typeface="Arial"/>
                <a:ea typeface="Arial"/>
              </a:rPr>
              <a:t>Tasa de churn de 26.6% preservada en los tres conjuntos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4"/>
          <p:cNvSpPr/>
          <p:nvPr/>
        </p:nvSpPr>
        <p:spPr>
          <a:xfrm>
            <a:off x="1143000" y="4657680"/>
            <a:ext cx="11094480" cy="1904760"/>
          </a:xfrm>
          <a:prstGeom prst="rect">
            <a:avLst/>
          </a:prstGeom>
          <a:solidFill>
            <a:srgbClr val="266e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5"/>
          <p:cNvSpPr/>
          <p:nvPr/>
        </p:nvSpPr>
        <p:spPr>
          <a:xfrm>
            <a:off x="1447920" y="4924440"/>
            <a:ext cx="1153332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Entrenamiento · 70%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6"/>
          <p:cNvSpPr/>
          <p:nvPr/>
        </p:nvSpPr>
        <p:spPr>
          <a:xfrm>
            <a:off x="1447920" y="6072120"/>
            <a:ext cx="2788560" cy="151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7"/>
          <p:cNvSpPr/>
          <p:nvPr/>
        </p:nvSpPr>
        <p:spPr>
          <a:xfrm>
            <a:off x="4389120" y="6000120"/>
            <a:ext cx="165888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26.6% churn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8"/>
          <p:cNvSpPr/>
          <p:nvPr/>
        </p:nvSpPr>
        <p:spPr>
          <a:xfrm>
            <a:off x="12313800" y="4657680"/>
            <a:ext cx="2377080" cy="1904760"/>
          </a:xfrm>
          <a:prstGeom prst="rect">
            <a:avLst/>
          </a:prstGeom>
          <a:solidFill>
            <a:srgbClr val="75a7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9"/>
          <p:cNvSpPr/>
          <p:nvPr/>
        </p:nvSpPr>
        <p:spPr>
          <a:xfrm>
            <a:off x="12542400" y="4924440"/>
            <a:ext cx="1996200" cy="77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1" u="none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Validación · 15%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0"/>
          <p:cNvSpPr/>
          <p:nvPr/>
        </p:nvSpPr>
        <p:spPr>
          <a:xfrm>
            <a:off x="12542400" y="6000120"/>
            <a:ext cx="211212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151a25"/>
                </a:solidFill>
                <a:effectLst/>
                <a:uFillTx/>
                <a:latin typeface="Courier New"/>
                <a:ea typeface="Courier New"/>
              </a:rPr>
              <a:t>26.6%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1"/>
          <p:cNvSpPr/>
          <p:nvPr/>
        </p:nvSpPr>
        <p:spPr>
          <a:xfrm>
            <a:off x="14767560" y="4657680"/>
            <a:ext cx="2377080" cy="1904760"/>
          </a:xfrm>
          <a:prstGeom prst="rect">
            <a:avLst/>
          </a:prstGeom>
          <a:solidFill>
            <a:srgbClr val="151a2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2"/>
          <p:cNvSpPr/>
          <p:nvPr/>
        </p:nvSpPr>
        <p:spPr>
          <a:xfrm>
            <a:off x="14996160" y="4924440"/>
            <a:ext cx="1996200" cy="77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Prueba · 15%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3"/>
          <p:cNvSpPr/>
          <p:nvPr/>
        </p:nvSpPr>
        <p:spPr>
          <a:xfrm>
            <a:off x="14996160" y="6000120"/>
            <a:ext cx="211212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26.6%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4"/>
          <p:cNvSpPr/>
          <p:nvPr/>
        </p:nvSpPr>
        <p:spPr>
          <a:xfrm>
            <a:off x="1143000" y="7248600"/>
            <a:ext cx="542016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1" u="none" strike="noStrike">
                <a:solidFill>
                  <a:srgbClr val="266ed3"/>
                </a:solidFill>
                <a:effectLst/>
                <a:uFillTx/>
                <a:latin typeface="Arial"/>
                <a:ea typeface="Arial"/>
              </a:rPr>
              <a:t>Entrenamiento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5"/>
          <p:cNvSpPr/>
          <p:nvPr/>
        </p:nvSpPr>
        <p:spPr>
          <a:xfrm>
            <a:off x="1143000" y="7733520"/>
            <a:ext cx="5420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Ajusta el modelo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6"/>
          <p:cNvSpPr/>
          <p:nvPr/>
        </p:nvSpPr>
        <p:spPr>
          <a:xfrm>
            <a:off x="6680160" y="7248600"/>
            <a:ext cx="542016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1" u="none" strike="noStrike">
                <a:solidFill>
                  <a:srgbClr val="2e65a7"/>
                </a:solidFill>
                <a:effectLst/>
                <a:uFillTx/>
                <a:latin typeface="Arial"/>
                <a:ea typeface="Arial"/>
              </a:rPr>
              <a:t>Validación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7"/>
          <p:cNvSpPr/>
          <p:nvPr/>
        </p:nvSpPr>
        <p:spPr>
          <a:xfrm>
            <a:off x="6680160" y="7733520"/>
            <a:ext cx="5420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Ajusta hiperparámetros y umbral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8"/>
          <p:cNvSpPr/>
          <p:nvPr/>
        </p:nvSpPr>
        <p:spPr>
          <a:xfrm>
            <a:off x="12217320" y="7248600"/>
            <a:ext cx="542016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1" u="none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Prueba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9"/>
          <p:cNvSpPr/>
          <p:nvPr/>
        </p:nvSpPr>
        <p:spPr>
          <a:xfrm>
            <a:off x="12217320" y="7733520"/>
            <a:ext cx="5074920" cy="78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Se usa una sola vez, para una puntuación final honesta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0"/>
          <p:cNvSpPr/>
          <p:nvPr/>
        </p:nvSpPr>
        <p:spPr>
          <a:xfrm>
            <a:off x="1143000" y="914400"/>
            <a:ext cx="1760184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266ed3"/>
                </a:solidFill>
                <a:effectLst/>
                <a:uFillTx/>
                <a:latin typeface="Courier New"/>
                <a:ea typeface="Courier New"/>
              </a:rPr>
              <a:t>07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1143000" y="1362600"/>
            <a:ext cx="17601840" cy="73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800" b="1" u="none" spc="-48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Resultados del Modelo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"/>
          <p:cNvSpPr/>
          <p:nvPr/>
        </p:nvSpPr>
        <p:spPr>
          <a:xfrm>
            <a:off x="1143000" y="3770280"/>
            <a:ext cx="6537600" cy="184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82000"/>
              </a:lnSpc>
              <a:tabLst>
                <a:tab algn="l" pos="0"/>
              </a:tabLst>
            </a:pPr>
            <a:r>
              <a:rPr lang="en-US" sz="15000" b="1" u="none" spc="-601" strike="noStrike">
                <a:solidFill>
                  <a:srgbClr val="266ed3"/>
                </a:solidFill>
                <a:effectLst/>
                <a:uFillTx/>
                <a:latin typeface="Arial"/>
                <a:ea typeface="Arial"/>
              </a:rPr>
              <a:t>0.835</a:t>
            </a:r>
            <a:endParaRPr lang="en-US" sz="15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3"/>
          <p:cNvSpPr/>
          <p:nvPr/>
        </p:nvSpPr>
        <p:spPr>
          <a:xfrm>
            <a:off x="1143000" y="5656320"/>
            <a:ext cx="6121440" cy="88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ROC-AUC en el conjunto de prueba reservado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4"/>
          <p:cNvSpPr/>
          <p:nvPr/>
        </p:nvSpPr>
        <p:spPr>
          <a:xfrm>
            <a:off x="1143000" y="6880680"/>
            <a:ext cx="6121440" cy="15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24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575f68"/>
                </a:solidFill>
                <a:effectLst/>
                <a:uFillTx/>
                <a:latin typeface="Arial"/>
                <a:ea typeface="Arial"/>
              </a:rPr>
              <a:t>XGBoost superó a un baseline de Regresión Logística. Se prioriza el recall: no detectar a un cliente que se va cuesta más que una falsa alarma.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8229600" y="3217680"/>
            <a:ext cx="465192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1" u="none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Recall (clientes que se van)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6"/>
          <p:cNvSpPr/>
          <p:nvPr/>
        </p:nvSpPr>
        <p:spPr>
          <a:xfrm>
            <a:off x="16562160" y="3180240"/>
            <a:ext cx="6588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266ed3"/>
                </a:solidFill>
                <a:effectLst/>
                <a:uFillTx/>
                <a:latin typeface="Courier New"/>
                <a:ea typeface="Courier New"/>
              </a:rPr>
              <a:t>81%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7"/>
          <p:cNvSpPr/>
          <p:nvPr/>
        </p:nvSpPr>
        <p:spPr>
          <a:xfrm>
            <a:off x="8229600" y="3735360"/>
            <a:ext cx="8915040" cy="380520"/>
          </a:xfrm>
          <a:prstGeom prst="rect">
            <a:avLst/>
          </a:prstGeom>
          <a:solidFill>
            <a:srgbClr val="dbe9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8"/>
          <p:cNvSpPr/>
          <p:nvPr/>
        </p:nvSpPr>
        <p:spPr>
          <a:xfrm>
            <a:off x="8229600" y="3735360"/>
            <a:ext cx="7221240" cy="380520"/>
          </a:xfrm>
          <a:prstGeom prst="rect">
            <a:avLst/>
          </a:prstGeom>
          <a:solidFill>
            <a:srgbClr val="266e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9"/>
          <p:cNvSpPr/>
          <p:nvPr/>
        </p:nvSpPr>
        <p:spPr>
          <a:xfrm>
            <a:off x="8229600" y="4572720"/>
            <a:ext cx="168156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1" u="none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ROC-AUC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0"/>
          <p:cNvSpPr/>
          <p:nvPr/>
        </p:nvSpPr>
        <p:spPr>
          <a:xfrm>
            <a:off x="16173360" y="4535280"/>
            <a:ext cx="10472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151a25"/>
                </a:solidFill>
                <a:effectLst/>
                <a:uFillTx/>
                <a:latin typeface="Courier New"/>
                <a:ea typeface="Courier New"/>
              </a:rPr>
              <a:t>0.835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1"/>
          <p:cNvSpPr/>
          <p:nvPr/>
        </p:nvSpPr>
        <p:spPr>
          <a:xfrm>
            <a:off x="8229600" y="5090400"/>
            <a:ext cx="8915040" cy="380520"/>
          </a:xfrm>
          <a:prstGeom prst="rect">
            <a:avLst/>
          </a:prstGeom>
          <a:solidFill>
            <a:srgbClr val="dbe9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2"/>
          <p:cNvSpPr/>
          <p:nvPr/>
        </p:nvSpPr>
        <p:spPr>
          <a:xfrm>
            <a:off x="8229600" y="5090400"/>
            <a:ext cx="7444080" cy="380520"/>
          </a:xfrm>
          <a:prstGeom prst="rect">
            <a:avLst/>
          </a:prstGeom>
          <a:solidFill>
            <a:srgbClr val="629b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3"/>
          <p:cNvSpPr/>
          <p:nvPr/>
        </p:nvSpPr>
        <p:spPr>
          <a:xfrm>
            <a:off x="8229600" y="5927760"/>
            <a:ext cx="146484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1" u="none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F1 score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4"/>
          <p:cNvSpPr/>
          <p:nvPr/>
        </p:nvSpPr>
        <p:spPr>
          <a:xfrm>
            <a:off x="16173360" y="5890680"/>
            <a:ext cx="10472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151a25"/>
                </a:solidFill>
                <a:effectLst/>
                <a:uFillTx/>
                <a:latin typeface="Courier New"/>
                <a:ea typeface="Courier New"/>
              </a:rPr>
              <a:t>0.622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5"/>
          <p:cNvSpPr/>
          <p:nvPr/>
        </p:nvSpPr>
        <p:spPr>
          <a:xfrm>
            <a:off x="8229600" y="6445800"/>
            <a:ext cx="8915040" cy="380520"/>
          </a:xfrm>
          <a:prstGeom prst="rect">
            <a:avLst/>
          </a:prstGeom>
          <a:solidFill>
            <a:srgbClr val="dbe9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6"/>
          <p:cNvSpPr/>
          <p:nvPr/>
        </p:nvSpPr>
        <p:spPr>
          <a:xfrm>
            <a:off x="8229600" y="6445800"/>
            <a:ext cx="5545080" cy="380520"/>
          </a:xfrm>
          <a:prstGeom prst="rect">
            <a:avLst/>
          </a:prstGeom>
          <a:solidFill>
            <a:srgbClr val="629b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7"/>
          <p:cNvSpPr/>
          <p:nvPr/>
        </p:nvSpPr>
        <p:spPr>
          <a:xfrm>
            <a:off x="8229600" y="7283160"/>
            <a:ext cx="160308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1" u="none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Precisión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8"/>
          <p:cNvSpPr/>
          <p:nvPr/>
        </p:nvSpPr>
        <p:spPr>
          <a:xfrm>
            <a:off x="16562160" y="7245720"/>
            <a:ext cx="6588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151a25"/>
                </a:solidFill>
                <a:effectLst/>
                <a:uFillTx/>
                <a:latin typeface="Courier New"/>
                <a:ea typeface="Courier New"/>
              </a:rPr>
              <a:t>51%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9"/>
          <p:cNvSpPr/>
          <p:nvPr/>
        </p:nvSpPr>
        <p:spPr>
          <a:xfrm>
            <a:off x="8229600" y="7800840"/>
            <a:ext cx="8915040" cy="380520"/>
          </a:xfrm>
          <a:prstGeom prst="rect">
            <a:avLst/>
          </a:prstGeom>
          <a:solidFill>
            <a:srgbClr val="dbe9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20"/>
          <p:cNvSpPr/>
          <p:nvPr/>
        </p:nvSpPr>
        <p:spPr>
          <a:xfrm>
            <a:off x="8229600" y="7800840"/>
            <a:ext cx="4546440" cy="380520"/>
          </a:xfrm>
          <a:prstGeom prst="rect">
            <a:avLst/>
          </a:prstGeom>
          <a:solidFill>
            <a:srgbClr val="629b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21"/>
          <p:cNvSpPr/>
          <p:nvPr/>
        </p:nvSpPr>
        <p:spPr>
          <a:xfrm>
            <a:off x="8229600" y="8600760"/>
            <a:ext cx="8915040" cy="9000"/>
          </a:xfrm>
          <a:prstGeom prst="rect">
            <a:avLst/>
          </a:prstGeom>
          <a:solidFill>
            <a:srgbClr val="d2d8d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2"/>
          <p:cNvSpPr/>
          <p:nvPr/>
        </p:nvSpPr>
        <p:spPr>
          <a:xfrm>
            <a:off x="8229600" y="8722080"/>
            <a:ext cx="21312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575f68"/>
                </a:solidFill>
                <a:effectLst/>
                <a:uFillTx/>
                <a:latin typeface="Courier New"/>
                <a:ea typeface="Courier New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3"/>
          <p:cNvSpPr/>
          <p:nvPr/>
        </p:nvSpPr>
        <p:spPr>
          <a:xfrm>
            <a:off x="12344400" y="8722080"/>
            <a:ext cx="48744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575f68"/>
                </a:solidFill>
                <a:effectLst/>
                <a:uFillTx/>
                <a:latin typeface="Courier New"/>
                <a:ea typeface="Courier New"/>
              </a:rPr>
              <a:t>0.5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4"/>
          <p:cNvSpPr/>
          <p:nvPr/>
        </p:nvSpPr>
        <p:spPr>
          <a:xfrm>
            <a:off x="16733520" y="8722080"/>
            <a:ext cx="48744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575f68"/>
                </a:solidFill>
                <a:effectLst/>
                <a:uFillTx/>
                <a:latin typeface="Courier New"/>
                <a:ea typeface="Courier New"/>
              </a:rPr>
              <a:t>1.0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 0"/>
          <p:cNvSpPr/>
          <p:nvPr/>
        </p:nvSpPr>
        <p:spPr>
          <a:xfrm>
            <a:off x="1143000" y="914400"/>
            <a:ext cx="1760184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266ed3"/>
                </a:solidFill>
                <a:effectLst/>
                <a:uFillTx/>
                <a:latin typeface="Courier New"/>
                <a:ea typeface="Courier New"/>
              </a:rPr>
              <a:t>08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"/>
          <p:cNvSpPr/>
          <p:nvPr/>
        </p:nvSpPr>
        <p:spPr>
          <a:xfrm>
            <a:off x="1143000" y="1362600"/>
            <a:ext cx="17601840" cy="73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800" b="1" u="none" spc="-48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Principales Factores de Churn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2"/>
          <p:cNvSpPr/>
          <p:nvPr/>
        </p:nvSpPr>
        <p:spPr>
          <a:xfrm>
            <a:off x="1143000" y="2673000"/>
            <a:ext cx="16001640" cy="16560"/>
          </a:xfrm>
          <a:prstGeom prst="rect">
            <a:avLst/>
          </a:prstGeom>
          <a:solidFill>
            <a:srgbClr val="151a2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8080" bIns="-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3"/>
          <p:cNvSpPr/>
          <p:nvPr/>
        </p:nvSpPr>
        <p:spPr>
          <a:xfrm>
            <a:off x="1143000" y="3087360"/>
            <a:ext cx="12189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266ed3"/>
                </a:solidFill>
                <a:effectLst/>
                <a:uFillTx/>
                <a:latin typeface="Courier New"/>
                <a:ea typeface="Courier New"/>
              </a:rPr>
              <a:t>01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4"/>
          <p:cNvSpPr/>
          <p:nvPr/>
        </p:nvSpPr>
        <p:spPr>
          <a:xfrm>
            <a:off x="2666880" y="3033000"/>
            <a:ext cx="58669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300" b="1" u="none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Duración del contrato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5"/>
          <p:cNvSpPr/>
          <p:nvPr/>
        </p:nvSpPr>
        <p:spPr>
          <a:xfrm>
            <a:off x="8381880" y="3145320"/>
            <a:ext cx="963900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575f68"/>
                </a:solidFill>
                <a:effectLst/>
                <a:uFillTx/>
                <a:latin typeface="Arial"/>
                <a:ea typeface="Arial"/>
              </a:rPr>
              <a:t>Los contratos de dos años reducen fuertemente el churn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6"/>
          <p:cNvSpPr/>
          <p:nvPr/>
        </p:nvSpPr>
        <p:spPr>
          <a:xfrm>
            <a:off x="1143000" y="3858840"/>
            <a:ext cx="16001640" cy="9000"/>
          </a:xfrm>
          <a:prstGeom prst="rect">
            <a:avLst/>
          </a:prstGeom>
          <a:solidFill>
            <a:srgbClr val="d2d8d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7"/>
          <p:cNvSpPr/>
          <p:nvPr/>
        </p:nvSpPr>
        <p:spPr>
          <a:xfrm>
            <a:off x="1143000" y="4263120"/>
            <a:ext cx="12189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266ed3"/>
                </a:solidFill>
                <a:effectLst/>
                <a:uFillTx/>
                <a:latin typeface="Courier New"/>
                <a:ea typeface="Courier New"/>
              </a:rPr>
              <a:t>02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8"/>
          <p:cNvSpPr/>
          <p:nvPr/>
        </p:nvSpPr>
        <p:spPr>
          <a:xfrm>
            <a:off x="2666880" y="4208760"/>
            <a:ext cx="5493600" cy="100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300" b="1" u="none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Servicio de internet por fibra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9"/>
          <p:cNvSpPr/>
          <p:nvPr/>
        </p:nvSpPr>
        <p:spPr>
          <a:xfrm>
            <a:off x="8381880" y="4320720"/>
            <a:ext cx="963900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575f68"/>
                </a:solidFill>
                <a:effectLst/>
                <a:uFillTx/>
                <a:latin typeface="Arial"/>
                <a:ea typeface="Arial"/>
              </a:rPr>
              <a:t>Asociado a mayor riesgo de churn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0"/>
          <p:cNvSpPr/>
          <p:nvPr/>
        </p:nvSpPr>
        <p:spPr>
          <a:xfrm>
            <a:off x="1143000" y="5517720"/>
            <a:ext cx="16001640" cy="9000"/>
          </a:xfrm>
          <a:prstGeom prst="rect">
            <a:avLst/>
          </a:prstGeom>
          <a:solidFill>
            <a:srgbClr val="d2d8d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1"/>
          <p:cNvSpPr/>
          <p:nvPr/>
        </p:nvSpPr>
        <p:spPr>
          <a:xfrm>
            <a:off x="1143000" y="5921640"/>
            <a:ext cx="12189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266ed3"/>
                </a:solidFill>
                <a:effectLst/>
                <a:uFillTx/>
                <a:latin typeface="Courier New"/>
                <a:ea typeface="Courier New"/>
              </a:rPr>
              <a:t>03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2"/>
          <p:cNvSpPr/>
          <p:nvPr/>
        </p:nvSpPr>
        <p:spPr>
          <a:xfrm>
            <a:off x="2666880" y="5867280"/>
            <a:ext cx="58669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300" b="1" u="none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Método de pago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3"/>
          <p:cNvSpPr/>
          <p:nvPr/>
        </p:nvSpPr>
        <p:spPr>
          <a:xfrm>
            <a:off x="8381880" y="5979600"/>
            <a:ext cx="963900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575f68"/>
                </a:solidFill>
                <a:effectLst/>
                <a:uFillTx/>
                <a:latin typeface="Arial"/>
                <a:ea typeface="Arial"/>
              </a:rPr>
              <a:t>La forma de facturación cambia la probabilidad de abandono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4"/>
          <p:cNvSpPr/>
          <p:nvPr/>
        </p:nvSpPr>
        <p:spPr>
          <a:xfrm>
            <a:off x="1143000" y="7868880"/>
            <a:ext cx="16001640" cy="9000"/>
          </a:xfrm>
          <a:prstGeom prst="rect">
            <a:avLst/>
          </a:prstGeom>
          <a:solidFill>
            <a:srgbClr val="d2d8d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5"/>
          <p:cNvSpPr/>
          <p:nvPr/>
        </p:nvSpPr>
        <p:spPr>
          <a:xfrm>
            <a:off x="1143000" y="6693120"/>
            <a:ext cx="16001640" cy="9000"/>
          </a:xfrm>
          <a:prstGeom prst="rect">
            <a:avLst/>
          </a:prstGeom>
          <a:solidFill>
            <a:srgbClr val="d2d8d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6"/>
          <p:cNvSpPr/>
          <p:nvPr/>
        </p:nvSpPr>
        <p:spPr>
          <a:xfrm>
            <a:off x="1143000" y="7097400"/>
            <a:ext cx="12189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266ed3"/>
                </a:solidFill>
                <a:effectLst/>
                <a:uFillTx/>
                <a:latin typeface="Courier New"/>
                <a:ea typeface="Courier New"/>
              </a:rPr>
              <a:t>04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7"/>
          <p:cNvSpPr/>
          <p:nvPr/>
        </p:nvSpPr>
        <p:spPr>
          <a:xfrm>
            <a:off x="2666880" y="7043040"/>
            <a:ext cx="58669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300" b="1" u="none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Antigüedad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8"/>
          <p:cNvSpPr/>
          <p:nvPr/>
        </p:nvSpPr>
        <p:spPr>
          <a:xfrm>
            <a:off x="8381880" y="7155000"/>
            <a:ext cx="963900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575f68"/>
                </a:solidFill>
                <a:effectLst/>
                <a:uFillTx/>
                <a:latin typeface="Arial"/>
                <a:ea typeface="Arial"/>
              </a:rPr>
              <a:t>Los clientes nuevos abandonan con más frecuencia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9"/>
          <p:cNvSpPr/>
          <p:nvPr/>
        </p:nvSpPr>
        <p:spPr>
          <a:xfrm>
            <a:off x="1143000" y="8492400"/>
            <a:ext cx="16001640" cy="1032480"/>
          </a:xfrm>
          <a:prstGeom prst="rect">
            <a:avLst/>
          </a:prstGeom>
          <a:solidFill>
            <a:srgbClr val="dbe9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0"/>
          <p:cNvSpPr/>
          <p:nvPr/>
        </p:nvSpPr>
        <p:spPr>
          <a:xfrm>
            <a:off x="1562040" y="8860680"/>
            <a:ext cx="89856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266ed3"/>
                </a:solidFill>
                <a:effectLst/>
                <a:uFillTx/>
                <a:latin typeface="Courier New"/>
                <a:ea typeface="Courier New"/>
              </a:rPr>
              <a:t>ACCIÓN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1"/>
          <p:cNvSpPr/>
          <p:nvPr/>
        </p:nvSpPr>
        <p:spPr>
          <a:xfrm>
            <a:off x="2613600" y="8835120"/>
            <a:ext cx="1133928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Incentivar contratos más largos para llevar a los clientes al segmento de menor riesgo.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0"/>
          <p:cNvSpPr/>
          <p:nvPr/>
        </p:nvSpPr>
        <p:spPr>
          <a:xfrm>
            <a:off x="1143000" y="914400"/>
            <a:ext cx="1760184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266ed3"/>
                </a:solidFill>
                <a:effectLst/>
                <a:uFillTx/>
                <a:latin typeface="Courier New"/>
                <a:ea typeface="Courier New"/>
              </a:rPr>
              <a:t>09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"/>
          <p:cNvSpPr/>
          <p:nvPr/>
        </p:nvSpPr>
        <p:spPr>
          <a:xfrm>
            <a:off x="1143000" y="1362600"/>
            <a:ext cx="17601840" cy="73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800" b="1" u="none" spc="-48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El Producto: API + Dashboard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"/>
          <p:cNvSpPr/>
          <p:nvPr/>
        </p:nvSpPr>
        <p:spPr>
          <a:xfrm>
            <a:off x="1143000" y="2673000"/>
            <a:ext cx="713340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1" u="none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Backend FastAPI · protegido con JWT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3"/>
          <p:cNvSpPr/>
          <p:nvPr/>
        </p:nvSpPr>
        <p:spPr>
          <a:xfrm>
            <a:off x="1143000" y="3234240"/>
            <a:ext cx="6484680" cy="1840680"/>
          </a:xfrm>
          <a:prstGeom prst="rect">
            <a:avLst/>
          </a:prstGeom>
          <a:solidFill>
            <a:srgbClr val="0c14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4"/>
          <p:cNvSpPr/>
          <p:nvPr/>
        </p:nvSpPr>
        <p:spPr>
          <a:xfrm>
            <a:off x="1447920" y="3501000"/>
            <a:ext cx="646272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72b7fa"/>
                </a:solidFill>
                <a:effectLst/>
                <a:uFillTx/>
                <a:latin typeface="Courier New"/>
                <a:ea typeface="Courier New"/>
              </a:rPr>
              <a:t>POST </a:t>
            </a: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/predict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5"/>
          <p:cNvSpPr/>
          <p:nvPr/>
        </p:nvSpPr>
        <p:spPr>
          <a:xfrm>
            <a:off x="1447920" y="3981240"/>
            <a:ext cx="646272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72b7fa"/>
                </a:solidFill>
                <a:effectLst/>
                <a:uFillTx/>
                <a:latin typeface="Courier New"/>
                <a:ea typeface="Courier New"/>
              </a:rPr>
              <a:t>GET </a:t>
            </a: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/portfolio/summary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6"/>
          <p:cNvSpPr/>
          <p:nvPr/>
        </p:nvSpPr>
        <p:spPr>
          <a:xfrm>
            <a:off x="1447920" y="4461480"/>
            <a:ext cx="646272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72b7fa"/>
                </a:solidFill>
                <a:effectLst/>
                <a:uFillTx/>
                <a:latin typeface="Courier New"/>
                <a:ea typeface="Courier New"/>
              </a:rPr>
              <a:t>GET </a:t>
            </a: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/model/evaluation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7"/>
          <p:cNvSpPr/>
          <p:nvPr/>
        </p:nvSpPr>
        <p:spPr>
          <a:xfrm>
            <a:off x="1143000" y="5532480"/>
            <a:ext cx="713340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1" u="none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Dashboard React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8"/>
          <p:cNvSpPr/>
          <p:nvPr/>
        </p:nvSpPr>
        <p:spPr>
          <a:xfrm>
            <a:off x="1143000" y="6093720"/>
            <a:ext cx="713340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575f68"/>
                </a:solidFill>
                <a:effectLst/>
                <a:uFillTx/>
                <a:latin typeface="Arial"/>
                <a:ea typeface="Arial"/>
              </a:rPr>
              <a:t>Inicio de sesión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9"/>
          <p:cNvSpPr/>
          <p:nvPr/>
        </p:nvSpPr>
        <p:spPr>
          <a:xfrm>
            <a:off x="1143000" y="6573960"/>
            <a:ext cx="713340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575f68"/>
                </a:solidFill>
                <a:effectLst/>
                <a:uFillTx/>
                <a:latin typeface="Arial"/>
                <a:ea typeface="Arial"/>
              </a:rPr>
              <a:t>Scoring de riesgo por cliente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0"/>
          <p:cNvSpPr/>
          <p:nvPr/>
        </p:nvSpPr>
        <p:spPr>
          <a:xfrm>
            <a:off x="1143000" y="7054200"/>
            <a:ext cx="713340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575f68"/>
                </a:solidFill>
                <a:effectLst/>
                <a:uFillTx/>
                <a:latin typeface="Arial"/>
                <a:ea typeface="Arial"/>
              </a:rPr>
              <a:t>Distribución de riesgo del portafolio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1"/>
          <p:cNvSpPr/>
          <p:nvPr/>
        </p:nvSpPr>
        <p:spPr>
          <a:xfrm>
            <a:off x="1143000" y="7534440"/>
            <a:ext cx="713340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575f68"/>
                </a:solidFill>
                <a:effectLst/>
                <a:uFillTx/>
                <a:latin typeface="Arial"/>
                <a:ea typeface="Arial"/>
              </a:rPr>
              <a:t>Gráficos de desempeño del modelo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2"/>
          <p:cNvSpPr/>
          <p:nvPr/>
        </p:nvSpPr>
        <p:spPr>
          <a:xfrm>
            <a:off x="8390160" y="2673000"/>
            <a:ext cx="8754480" cy="6851520"/>
          </a:xfrm>
          <a:prstGeom prst="rect">
            <a:avLst/>
          </a:prstGeom>
          <a:solidFill>
            <a:srgbClr val="ebeef5"/>
          </a:solidFill>
          <a:ln w="6840">
            <a:solidFill>
              <a:srgbClr val="d2d8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3"/>
          <p:cNvSpPr/>
          <p:nvPr/>
        </p:nvSpPr>
        <p:spPr>
          <a:xfrm>
            <a:off x="10127520" y="5855760"/>
            <a:ext cx="5279400" cy="4860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4"/>
          <p:cNvSpPr/>
          <p:nvPr/>
        </p:nvSpPr>
        <p:spPr>
          <a:xfrm>
            <a:off x="10299240" y="5951160"/>
            <a:ext cx="509472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575f68"/>
                </a:solidFill>
                <a:effectLst/>
                <a:uFillTx/>
                <a:latin typeface="Courier New"/>
                <a:ea typeface="Courier New"/>
              </a:rPr>
              <a:t>captura de la interfaz del dashboard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 0"/>
          <p:cNvSpPr/>
          <p:nvPr/>
        </p:nvSpPr>
        <p:spPr>
          <a:xfrm>
            <a:off x="1143000" y="914400"/>
            <a:ext cx="1760184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266ed3"/>
                </a:solidFill>
                <a:effectLst/>
                <a:uFillTx/>
                <a:latin typeface="Courier New"/>
                <a:ea typeface="Courier New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"/>
          <p:cNvSpPr/>
          <p:nvPr/>
        </p:nvSpPr>
        <p:spPr>
          <a:xfrm>
            <a:off x="1143000" y="1362600"/>
            <a:ext cx="17601840" cy="73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800" b="1" u="none" spc="-48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Estado Actual y Próximos Pasos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2"/>
          <p:cNvSpPr/>
          <p:nvPr/>
        </p:nvSpPr>
        <p:spPr>
          <a:xfrm>
            <a:off x="1143000" y="2673000"/>
            <a:ext cx="5079600" cy="6851520"/>
          </a:xfrm>
          <a:prstGeom prst="rect">
            <a:avLst/>
          </a:prstGeom>
          <a:solidFill>
            <a:srgbClr val="266e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3"/>
          <p:cNvSpPr/>
          <p:nvPr/>
        </p:nvSpPr>
        <p:spPr>
          <a:xfrm>
            <a:off x="1600200" y="3206520"/>
            <a:ext cx="458172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cfdff8"/>
                </a:solidFill>
                <a:effectLst/>
                <a:uFillTx/>
                <a:latin typeface="Courier New"/>
                <a:ea typeface="Courier New"/>
              </a:rPr>
              <a:t>CONSTRUIDO Y VERIFICADO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4"/>
          <p:cNvSpPr/>
          <p:nvPr/>
        </p:nvSpPr>
        <p:spPr>
          <a:xfrm>
            <a:off x="1600200" y="3807360"/>
            <a:ext cx="45817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16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Pipeline de datos completo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5"/>
          <p:cNvSpPr/>
          <p:nvPr/>
        </p:nvSpPr>
        <p:spPr>
          <a:xfrm>
            <a:off x="1600200" y="4357800"/>
            <a:ext cx="45817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16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Modelo entrenado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6"/>
          <p:cNvSpPr/>
          <p:nvPr/>
        </p:nvSpPr>
        <p:spPr>
          <a:xfrm>
            <a:off x="1600200" y="4908240"/>
            <a:ext cx="45817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16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API protegida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7"/>
          <p:cNvSpPr/>
          <p:nvPr/>
        </p:nvSpPr>
        <p:spPr>
          <a:xfrm>
            <a:off x="1600200" y="5458680"/>
            <a:ext cx="45817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16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Dashboard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8"/>
          <p:cNvSpPr/>
          <p:nvPr/>
        </p:nvSpPr>
        <p:spPr>
          <a:xfrm>
            <a:off x="1600200" y="8137080"/>
            <a:ext cx="4165200" cy="9000"/>
          </a:xfrm>
          <a:prstGeom prst="rect">
            <a:avLst/>
          </a:prstGeom>
          <a:solidFill>
            <a:srgbClr val="76a0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9"/>
          <p:cNvSpPr/>
          <p:nvPr/>
        </p:nvSpPr>
        <p:spPr>
          <a:xfrm>
            <a:off x="1600200" y="8372520"/>
            <a:ext cx="429012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Funcionando localmente de extremo a extremo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10"/>
          <p:cNvSpPr/>
          <p:nvPr/>
        </p:nvSpPr>
        <p:spPr>
          <a:xfrm>
            <a:off x="6603840" y="2673000"/>
            <a:ext cx="5079600" cy="6851520"/>
          </a:xfrm>
          <a:prstGeom prst="rect">
            <a:avLst/>
          </a:prstGeom>
          <a:noFill/>
          <a:ln w="16920">
            <a:solidFill>
              <a:srgbClr val="d2d8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1"/>
          <p:cNvSpPr/>
          <p:nvPr/>
        </p:nvSpPr>
        <p:spPr>
          <a:xfrm>
            <a:off x="7078320" y="3223440"/>
            <a:ext cx="454428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575f68"/>
                </a:solidFill>
                <a:effectLst/>
                <a:uFillTx/>
                <a:latin typeface="Courier New"/>
                <a:ea typeface="Courier New"/>
              </a:rPr>
              <a:t>POSPUESTO DELIBERADAMENTE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2"/>
          <p:cNvSpPr/>
          <p:nvPr/>
        </p:nvSpPr>
        <p:spPr>
          <a:xfrm>
            <a:off x="7078320" y="3824280"/>
            <a:ext cx="454428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16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Incorporar datos reales del cliente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3"/>
          <p:cNvSpPr/>
          <p:nvPr/>
        </p:nvSpPr>
        <p:spPr>
          <a:xfrm>
            <a:off x="7078320" y="4374720"/>
            <a:ext cx="454428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16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Despliegue en la nube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4"/>
          <p:cNvSpPr/>
          <p:nvPr/>
        </p:nvSpPr>
        <p:spPr>
          <a:xfrm>
            <a:off x="7078320" y="8045280"/>
            <a:ext cx="4131360" cy="9000"/>
          </a:xfrm>
          <a:prstGeom prst="rect">
            <a:avLst/>
          </a:prstGeom>
          <a:solidFill>
            <a:srgbClr val="d2d8d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5"/>
          <p:cNvSpPr/>
          <p:nvPr/>
        </p:nvSpPr>
        <p:spPr>
          <a:xfrm>
            <a:off x="7078320" y="8280720"/>
            <a:ext cx="4255200" cy="73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575f68"/>
                </a:solidFill>
                <a:effectLst/>
                <a:uFillTx/>
                <a:latin typeface="Arial"/>
                <a:ea typeface="Arial"/>
              </a:rPr>
              <a:t>Sujeto a firmar un cliente + acuerdo de datos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6"/>
          <p:cNvSpPr/>
          <p:nvPr/>
        </p:nvSpPr>
        <p:spPr>
          <a:xfrm>
            <a:off x="12065040" y="2673000"/>
            <a:ext cx="5079600" cy="6851520"/>
          </a:xfrm>
          <a:prstGeom prst="rect">
            <a:avLst/>
          </a:prstGeom>
          <a:noFill/>
          <a:ln w="16920">
            <a:solidFill>
              <a:srgbClr val="d2d8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7"/>
          <p:cNvSpPr/>
          <p:nvPr/>
        </p:nvSpPr>
        <p:spPr>
          <a:xfrm>
            <a:off x="12539160" y="3223440"/>
            <a:ext cx="454464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575f68"/>
                </a:solidFill>
                <a:effectLst/>
                <a:uFillTx/>
                <a:latin typeface="Courier New"/>
                <a:ea typeface="Courier New"/>
              </a:rPr>
              <a:t>LADO COMERCIAL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8"/>
          <p:cNvSpPr/>
          <p:nvPr/>
        </p:nvSpPr>
        <p:spPr>
          <a:xfrm>
            <a:off x="12539160" y="3824280"/>
            <a:ext cx="4255200" cy="11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116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Acercamiento dirigido a empresas ecuatorianas en sectores regulados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19"/>
          <p:cNvSpPr/>
          <p:nvPr/>
        </p:nvSpPr>
        <p:spPr>
          <a:xfrm>
            <a:off x="12539160" y="5209200"/>
            <a:ext cx="1248480" cy="486000"/>
          </a:xfrm>
          <a:prstGeom prst="rect">
            <a:avLst/>
          </a:prstGeom>
          <a:solidFill>
            <a:srgbClr val="dbe9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0"/>
          <p:cNvSpPr/>
          <p:nvPr/>
        </p:nvSpPr>
        <p:spPr>
          <a:xfrm>
            <a:off x="12710520" y="5304240"/>
            <a:ext cx="98172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Finanzas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1"/>
          <p:cNvSpPr/>
          <p:nvPr/>
        </p:nvSpPr>
        <p:spPr>
          <a:xfrm>
            <a:off x="13902480" y="5209200"/>
            <a:ext cx="1172520" cy="486000"/>
          </a:xfrm>
          <a:prstGeom prst="rect">
            <a:avLst/>
          </a:prstGeom>
          <a:solidFill>
            <a:srgbClr val="dbe9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2"/>
          <p:cNvSpPr/>
          <p:nvPr/>
        </p:nvSpPr>
        <p:spPr>
          <a:xfrm>
            <a:off x="14073840" y="5304240"/>
            <a:ext cx="90576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Seguros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23"/>
          <p:cNvSpPr/>
          <p:nvPr/>
        </p:nvSpPr>
        <p:spPr>
          <a:xfrm>
            <a:off x="15189480" y="5209200"/>
            <a:ext cx="921960" cy="486000"/>
          </a:xfrm>
          <a:prstGeom prst="rect">
            <a:avLst/>
          </a:prstGeom>
          <a:solidFill>
            <a:srgbClr val="dbe9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4"/>
          <p:cNvSpPr/>
          <p:nvPr/>
        </p:nvSpPr>
        <p:spPr>
          <a:xfrm>
            <a:off x="15360840" y="5304240"/>
            <a:ext cx="65520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151a25"/>
                </a:solidFill>
                <a:effectLst/>
                <a:uFillTx/>
                <a:latin typeface="Arial"/>
                <a:ea typeface="Arial"/>
              </a:rPr>
              <a:t>Salud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0"/>
          <p:cNvSpPr/>
          <p:nvPr/>
        </p:nvSpPr>
        <p:spPr>
          <a:xfrm>
            <a:off x="1143000" y="966960"/>
            <a:ext cx="190080" cy="190080"/>
          </a:xfrm>
          <a:prstGeom prst="rect">
            <a:avLst/>
          </a:prstGeom>
          <a:solidFill>
            <a:srgbClr val="72b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"/>
          <p:cNvSpPr/>
          <p:nvPr/>
        </p:nvSpPr>
        <p:spPr>
          <a:xfrm>
            <a:off x="1523880" y="914400"/>
            <a:ext cx="427392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pc="145" strike="noStrike">
                <a:solidFill>
                  <a:srgbClr val="72b7fa"/>
                </a:solidFill>
                <a:effectLst/>
                <a:uFillTx/>
                <a:latin typeface="Courier New"/>
                <a:ea typeface="Courier New"/>
              </a:rPr>
              <a:t>CHURN RISK PREDICTION MVP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2"/>
          <p:cNvSpPr/>
          <p:nvPr/>
        </p:nvSpPr>
        <p:spPr>
          <a:xfrm>
            <a:off x="1143000" y="3286080"/>
            <a:ext cx="14715720" cy="30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lnSpcReduction="9999"/>
          </a:bodyPr>
          <a:p>
            <a:pPr defTabSz="914400">
              <a:lnSpc>
                <a:spcPct val="93000"/>
              </a:lnSpc>
              <a:tabLst>
                <a:tab algn="l" pos="0"/>
              </a:tabLst>
            </a:pPr>
            <a:r>
              <a:rPr lang="en-US" sz="7200" b="1" u="none" spc="-145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Una herramienta funcional, no una hipótesis — lista para apuntar a datos reales</a:t>
            </a:r>
            <a:endParaRPr lang="en-U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3"/>
          <p:cNvSpPr/>
          <p:nvPr/>
        </p:nvSpPr>
        <p:spPr>
          <a:xfrm>
            <a:off x="1143000" y="8324280"/>
            <a:ext cx="16001640" cy="9000"/>
          </a:xfrm>
          <a:prstGeom prst="rect">
            <a:avLst/>
          </a:prstGeom>
          <a:solidFill>
            <a:srgbClr val="313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4"/>
          <p:cNvSpPr/>
          <p:nvPr/>
        </p:nvSpPr>
        <p:spPr>
          <a:xfrm>
            <a:off x="1143000" y="8712000"/>
            <a:ext cx="838152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a6aeba"/>
                </a:solidFill>
                <a:effectLst/>
                <a:uFillTx/>
                <a:latin typeface="Courier New"/>
                <a:ea typeface="Courier New"/>
              </a:rPr>
              <a:t>CONTACTO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5"/>
          <p:cNvSpPr/>
          <p:nvPr/>
        </p:nvSpPr>
        <p:spPr>
          <a:xfrm>
            <a:off x="1143000" y="9103320"/>
            <a:ext cx="83815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Stan Mora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LibreOffice/25.8.7.3$Linux_X86_64 LibreOffice_project/580$Build-3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2026-10-15T04:02:55Z</dcterms:created>
  <dc:creator>PptxGenJS</dc:creator>
  <dc:description/>
  <dc:language>en-US</dc:language>
  <cp:lastModifiedBy/>
  <dcterms:modified xsi:type="dcterms:W3CDTF">2026-10-15T00:04:43Z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11</vt:r8>
  </property>
  <property fmtid="{D5CDD505-2E9C-101B-9397-08002B2CF9AE}" pid="3" name="PresentationFormat">
    <vt:lpwstr>On-screen Show (16:9)</vt:lpwstr>
  </property>
  <property fmtid="{D5CDD505-2E9C-101B-9397-08002B2CF9AE}" pid="4" name="Slides">
    <vt:r8>11</vt:r8>
  </property>
</Properties>
</file>